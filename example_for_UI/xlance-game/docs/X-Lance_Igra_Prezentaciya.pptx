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206240"/>
            <a:ext cx="1097280" cy="1097280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Деловая игра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8686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«Спаси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конференцию!»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проектов, шесть колод проблем и три показателя, которые тянут в разные стороны.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572768" cy="502920"/>
          </a:xfrm>
          <a:prstGeom prst="roundRect">
            <a:avLst>
              <a:gd name="adj" fmla="val 50909"/>
            </a:avLst>
          </a:prstGeom>
          <a:solidFill>
            <a:srgbClr val="5B57D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2120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24328" y="5212080"/>
            <a:ext cx="2532888" cy="502920"/>
          </a:xfrm>
          <a:prstGeom prst="roundRect">
            <a:avLst>
              <a:gd name="adj" fmla="val 50909"/>
            </a:avLst>
          </a:prstGeom>
          <a:solidFill>
            <a:srgbClr val="2FAE9E"/>
          </a:solidFill>
          <a:ln/>
        </p:spPr>
      </p:sp>
      <p:sp>
        <p:nvSpPr>
          <p:cNvPr id="12" name="Text 10"/>
          <p:cNvSpPr/>
          <p:nvPr/>
        </p:nvSpPr>
        <p:spPr>
          <a:xfrm>
            <a:off x="2624328" y="5212080"/>
            <a:ext cx="2532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Маржинальность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85816" y="5212080"/>
            <a:ext cx="2820924" cy="502920"/>
          </a:xfrm>
          <a:prstGeom prst="roundRect">
            <a:avLst>
              <a:gd name="adj" fmla="val 50909"/>
            </a:avLst>
          </a:prstGeom>
          <a:solidFill>
            <a:srgbClr val="E9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385816" y="5212080"/>
            <a:ext cx="28209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28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Конференция по управлению проектами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ЛЕГЕНДА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Оргкомитет PMFest 2026 раздал участки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три месяца открывается конференция. Оргкомитет нанял шесть подрядных команд — по участку на каждую. Бюджеты сопоставимы, дата Х одна на всех. А вот проблемы у каждого свои: чужой опыт не поможет.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862072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843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Кейтеринг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5021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Скоропортящиеся продукты и жёсткая зависимость от числа гостей: ошибку в объёме исправить нечем.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2862072"/>
            <a:ext cx="548640" cy="54864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2843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5021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длинный монтаж из всех проектов: критический путь идёт через аренду и доставку техники.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260604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2862072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17" name="Text 15"/>
          <p:cNvSpPr/>
          <p:nvPr/>
        </p:nvSpPr>
        <p:spPr>
          <a:xfrm>
            <a:off x="8211312" y="2862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15400" y="28437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Развлечения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50215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мелких подрядчиков и творческая неопределённость: результат трудно измерить до самого Дня Х.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782312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08760" y="47640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422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Печать тиража — точка невозврата. После неё любое изменение стоит как весь тираж заново.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51960" y="452628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07992" y="4782312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4507992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12080" y="47640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422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зависит от чужих данных: списки гостей приходят поздно, а планировать надо заранее.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55280" y="4526280"/>
            <a:ext cx="34290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11312" y="4782312"/>
            <a:ext cx="548640" cy="548640"/>
          </a:xfrm>
          <a:prstGeom prst="ellipse">
            <a:avLst/>
          </a:prstGeom>
          <a:solidFill>
            <a:srgbClr val="C9971A"/>
          </a:solidFill>
          <a:ln/>
        </p:spPr>
      </p:sp>
      <p:sp>
        <p:nvSpPr>
          <p:cNvPr id="32" name="Text 30"/>
          <p:cNvSpPr/>
          <p:nvPr/>
        </p:nvSpPr>
        <p:spPr>
          <a:xfrm>
            <a:off x="8211312" y="4782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915400" y="476402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Афтепати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29600" y="5422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Дефицитные ресурсы и разрешительные документы: артистов и лицензию нельзя достать быстрее за деньги.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Шесть проектов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СТАРТОВЫЕ УСЛОВИЯ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Планы разные, бюджеты сопоставимы</a:t>
            </a:r>
            <a:endParaRPr lang="en-US" sz="2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00584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828800"/>
                <a:gridCol w="1371600"/>
                <a:gridCol w="1554480"/>
                <a:gridCol w="822960"/>
                <a:gridCol w="73152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Проект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Себестоимость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Узкое место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Кейтеринг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 продуктов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1 250 000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Логистика и доставка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Развлечения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1 150 000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851 000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Застройка зоны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Печать тиража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Логистика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1 180 000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885 000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Сбор списков гостей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Афтепати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1 220 000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915 000 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дн.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Артисты и диджей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 Х у всех одна — конференция одна. Различаются состав работ, ресурсы и то, где именно проект уязвим.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Планы проектов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KPI, которые тянут в разные стороны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2286000"/>
          </a:xfrm>
          <a:prstGeom prst="roundRect">
            <a:avLst>
              <a:gd name="adj" fmla="val 5600"/>
            </a:avLst>
          </a:prstGeom>
          <a:solidFill>
            <a:srgbClr val="FAFAFC"/>
          </a:solidFill>
          <a:ln w="19050">
            <a:solidFill>
              <a:srgbClr val="5B57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B5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Срок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длительность — 6 дней. Карточки добавляют и снимают дни.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783080"/>
            <a:ext cx="3566160" cy="2286000"/>
          </a:xfrm>
          <a:prstGeom prst="roundRect">
            <a:avLst>
              <a:gd name="adj" fmla="val 5600"/>
            </a:avLst>
          </a:prstGeom>
          <a:solidFill>
            <a:srgbClr val="FAFAFC"/>
          </a:solidFill>
          <a:ln w="19050">
            <a:solidFill>
              <a:srgbClr val="2FAE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AE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Маржинальность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916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от дохода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Расходы и доходы меняются решениями. База — в плане проекта.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783080"/>
            <a:ext cx="3566160" cy="2286000"/>
          </a:xfrm>
          <a:prstGeom prst="roundRect">
            <a:avLst>
              <a:gd name="adj" fmla="val 5600"/>
            </a:avLst>
          </a:prstGeom>
          <a:solidFill>
            <a:srgbClr val="FAFAFC"/>
          </a:solidFill>
          <a:ln w="19050">
            <a:solidFill>
              <a:srgbClr val="E9A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9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Удовлетворённость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549640" y="25877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· старт 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4964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Растёт и падает от того, как вы обходитесь с заказчиком.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8750"/>
            </a:avLst>
          </a:prstGeom>
          <a:solidFill>
            <a:srgbClr val="1F235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Курс пересчёта: 1 день  ≈  43 000 ₽  ≈  14 п.п. удовлетворённости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показателя бьют по итогу примерно одинаково. Считайте до того, как выберете вариант.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Три KPI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Индекс проекта — среднее трёх KPI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188720"/>
          </a:xfrm>
          <a:prstGeom prst="roundRect">
            <a:avLst>
              <a:gd name="adj" fmla="val 10769"/>
            </a:avLst>
          </a:prstGeom>
          <a:solidFill>
            <a:srgbClr val="F7F6FD"/>
          </a:solidFill>
          <a:ln w="19050">
            <a:solidFill>
              <a:srgbClr val="5B57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Срок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÷ факт × 100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749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20624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A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Маржинальность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÷ база × 100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0408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98080" y="1920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Удовлетворённость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есть, 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07040" y="19659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команда «Кейтеринг»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37744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Расчёт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Значение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÷ 6,5 ×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Маржинальность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16,2% ÷ 25% × 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Удовлетворённость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есть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B5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ИНДЕКС ПРОЕКТА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(92 + 65 + 85) ÷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57D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FB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040880" y="3675888"/>
            <a:ext cx="201168" cy="201168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356616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ровно по плану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406640" y="38953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Типичный результат в игре — 70–90%.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040880" y="4544568"/>
            <a:ext cx="201168" cy="201168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20" name="Text 17"/>
          <p:cNvSpPr/>
          <p:nvPr/>
        </p:nvSpPr>
        <p:spPr>
          <a:xfrm>
            <a:off x="7406640" y="4434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Перевыполнение вытягивает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40664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срока или выше плановой маржи — этот KPI больше 100%.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040880" y="5413248"/>
            <a:ext cx="201168" cy="201168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23" name="Text 20"/>
          <p:cNvSpPr/>
          <p:nvPr/>
        </p:nvSpPr>
        <p:spPr>
          <a:xfrm>
            <a:off x="7406640" y="53035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провал не обнуляет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06640" y="5632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сознательно «продать» один KPI ради двух других.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Формула результата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правила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566928" cy="566928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9933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каждой команды своя колода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Двенадцать карт под ваш проект. В раунде тянете две из четырёх вслепую — подсматривать у соседей бесполезно.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29968"/>
            <a:ext cx="566928" cy="566928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вариант чем-то платит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10528" y="269748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Сроком, деньгами или отношениями с заказчиком. Бесплатных решений в колоде нет.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на изменение двигает план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" y="475488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вырос по инициативе заказчика? Обоснуйте — и базовый план пересмотрят вместе с доходом.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087368"/>
            <a:ext cx="566928" cy="566928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40507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помнит, как с ним говорили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10528" y="4754880"/>
            <a:ext cx="4809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Фасилитатор добавляет или снимает до 5 п.п. за то, предупредили вы о проблеме или скрыли её.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Правила игры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ЗАКАЗЧИК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Аркадий Валентинович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937760" cy="3794760"/>
          </a:xfrm>
          <a:prstGeom prst="roundRect">
            <a:avLst>
              <a:gd name="adj" fmla="val 3373"/>
            </a:avLst>
          </a:prstGeom>
          <a:solidFill>
            <a:srgbClr val="1F2350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2148840"/>
            <a:ext cx="1371600" cy="1371600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6" name="Text 4"/>
          <p:cNvSpPr/>
          <p:nvPr/>
        </p:nvSpPr>
        <p:spPr>
          <a:xfrm>
            <a:off x="2331720" y="21488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Аркадий Валентинович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маркетингу,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куратор конференции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E9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меня буквально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E9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маленькая просьба»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0" y="178308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2112264"/>
            <a:ext cx="219456" cy="219456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8562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уже видел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55080" y="22037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другой конференции. Там было ярче, дешевле и вообще лучше.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761488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3090672"/>
            <a:ext cx="219456" cy="219456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Ценит, когда предупреждают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55080" y="318211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Скажете о проблеме заранее — простит многое. Узнает последним — не простит ничего.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3739896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4069080"/>
            <a:ext cx="219456" cy="219456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81304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любит слово «нет» без объяснения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55080" y="4160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«Понял. Записал. Запомнил» — это худшее, что вы можете услышать.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4718304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9320" y="5047488"/>
            <a:ext cx="219456" cy="219456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7914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и есть третий KPI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55080" y="51389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 заказчика — это его настроение. Оно видно на стене.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Заказчик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проходит раунд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685800" cy="685800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Тянете карту вслепую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из четырёх карт раунда, 2–3 варианта реакции в каждой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33147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103120"/>
            <a:ext cx="685800" cy="685800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611880" y="2971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Выбираете, чем платить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Сроком, деньгами или удовлетворённостью заказчика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33147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103120"/>
            <a:ext cx="685800" cy="685800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Идёте к Заказчику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38862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объём вырос — оформляете запрос на изменение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23960" y="331470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C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2103120"/>
            <a:ext cx="685800" cy="685800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9281160" y="2103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81160" y="29718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действие в X-Lance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81160" y="38862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Р1 — ресурсы, Р2 — Ганта и запрос, Р3 — финансы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X-Lance за раунд вносится одно изменение — остальное пишется в бланк решений.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Механика раунда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АГЕНДА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минут по минутам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874520" y="1828800"/>
            <a:ext cx="0" cy="4059936"/>
          </a:xfrm>
          <a:prstGeom prst="line">
            <a:avLst/>
          </a:prstGeom>
          <a:noFill/>
          <a:ln w="25400">
            <a:solidFill>
              <a:srgbClr val="D8D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792224" y="1783080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6916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Приветствие, легенда, раздача проектов и ролей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92224" y="2350008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2585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план в X-Lance: Ганта, ресурсы, бюджет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0" y="22585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мин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25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92224" y="2916936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82549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KPI, формула, курс пересчёта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2825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мин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924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00:17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92224" y="3483864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39242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· две карты · ресурсный план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0" y="339242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мин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959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00:29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92224" y="4050792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39593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 · две карты · Ганта и запрос на изменение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0" y="3959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мин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526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00:41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792224" y="4617720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5262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 · две карты · финансы и закрытие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0" y="4526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мин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093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00:51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792224" y="5184648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94560" y="50932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по отклонениям, расчёт индексов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875520" y="50932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мин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66013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00:56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792224" y="5751576"/>
            <a:ext cx="164592" cy="164592"/>
          </a:xfrm>
          <a:prstGeom prst="ellipse">
            <a:avLst/>
          </a:prstGeom>
          <a:solidFill>
            <a:srgbClr val="5B57D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94560" y="566013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Итоги, номинации, разбор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875520" y="56601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мин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Тайминг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572000" cy="457200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ВЫШЛО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Считаем индекс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и финансы — из отчёта по отклонениям. Удовлетворённость — с листа Заказчика.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Табло результатов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9875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463040"/>
                <a:gridCol w="1463040"/>
                <a:gridCol w="1188720"/>
                <a:gridCol w="146304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Команда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Баз. дн.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дн.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Баз. маржа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маржа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Удовл.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Индекс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3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Кейтеринг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Развлечения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Мерч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Логистика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Афтепати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Базовые значения обновляются, если по команде утверждался запрос на изменение.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4864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4944" y="5815584"/>
            <a:ext cx="182880" cy="182880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8" name="Text 5"/>
          <p:cNvSpPr/>
          <p:nvPr/>
        </p:nvSpPr>
        <p:spPr>
          <a:xfrm>
            <a:off x="950976" y="5559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Худшее решение с лучшим обоснованием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50976" y="5998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голосование зала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79776" y="54864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26080" y="5815584"/>
            <a:ext cx="182880" cy="182880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2" name="Text 9"/>
          <p:cNvSpPr/>
          <p:nvPr/>
        </p:nvSpPr>
        <p:spPr>
          <a:xfrm>
            <a:off x="3182112" y="5559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Любимец заказчика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182112" y="5998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высшая удовлетворённость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010912" y="54864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57216" y="5815584"/>
            <a:ext cx="182880" cy="182880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16" name="Text 13"/>
          <p:cNvSpPr/>
          <p:nvPr/>
        </p:nvSpPr>
        <p:spPr>
          <a:xfrm>
            <a:off x="5413248" y="5559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дисциплина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13248" y="5998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высшая маржинальность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242048" y="54864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5815584"/>
            <a:ext cx="182880" cy="182880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20" name="Text 17"/>
          <p:cNvSpPr/>
          <p:nvPr/>
        </p:nvSpPr>
        <p:spPr>
          <a:xfrm>
            <a:off x="7644384" y="5559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переговоров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644384" y="5998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утверждённых запросов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9473184" y="54864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19488" y="5815584"/>
            <a:ext cx="182880" cy="182880"/>
          </a:xfrm>
          <a:prstGeom prst="ellipse">
            <a:avLst/>
          </a:prstGeom>
          <a:solidFill>
            <a:srgbClr val="1F2350"/>
          </a:solidFill>
          <a:ln/>
        </p:spPr>
      </p:sp>
      <p:sp>
        <p:nvSpPr>
          <p:cNvPr id="24" name="Text 21"/>
          <p:cNvSpPr/>
          <p:nvPr/>
        </p:nvSpPr>
        <p:spPr>
          <a:xfrm>
            <a:off x="9875520" y="55595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Гран-при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875520" y="59984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наибольший индекс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Табло результатов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ДЕБРИФ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только что увидели на практике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5B57D1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2011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KPI ничего не значит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срок при нулевой марже и злом заказчике — это не успех.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2057400"/>
            <a:ext cx="457200" cy="457200"/>
          </a:xfrm>
          <a:prstGeom prst="ellipse">
            <a:avLst/>
          </a:prstGeom>
          <a:solidFill>
            <a:srgbClr val="E9A93B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116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 стоит денег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26517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«сделаем в подарок» уменьшает маржу. Иногда это правильная сделка.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2FAE9E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3931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не топят проект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572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Топят изменения, которые никто не зафиксировал и не согласовал.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70332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AFAFC"/>
          </a:solidFill>
          <a:ln w="12700">
            <a:solidFill>
              <a:srgbClr val="E4E3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3977640"/>
            <a:ext cx="457200" cy="457200"/>
          </a:xfrm>
          <a:prstGeom prst="ellipse">
            <a:avLst/>
          </a:prstGeom>
          <a:solidFill>
            <a:srgbClr val="E9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3931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Узкое место известно заранее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4572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 было в вашем плане с первой минуты. Вопрос лишь в том, посмотрели ли вы туда.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5B5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проектом — это выбор, чем именно вы платите в каждый конкретный момент.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Методологические выводы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A9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A2E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Хотите видеть все три показателя своих проектов в реальном времени?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7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X-Lance — система управления проектами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info@x-lance.ru   ·   +7 (495) 108-11-20   ·   x-lance.ru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2026-09-01T15:22:10Z</dcterms:created>
  <dcterms:modified xsi:type="dcterms:W3CDTF">2026-09-01T15:22:10Z</dcterms:modified>
</cp:coreProperties>
</file>